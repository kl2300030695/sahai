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SahAI is an AI voice co-pilot that helps agents sell a new product consistently and makes sure no drop-off is ever forgotten — with a human approving everything before it reaches the customer. Name the track and move fast into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Agent A / Agent B scenario out loud, don't just read the card. Land the two stats as the cost of inconsistency at scale, then pivot: this isn't an agent-skill problem, it's a scale problem — which is exactly what SahAI is built to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sentence slowly — this is the one line judges should remember. Then say: 'let me show you exactly what that looks like' and move straight into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map for your live demo — glance back at it as you move through each step on screen. Switch to the actual demo now: trigger a call, show the live transcript and the suggestion surfacing, end the call, then show the CRM update, the drafted follow-up, and the approval click. Come back to slides only after the demo finishes.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Intent Agent classifies what's happening live, Retrieval/RAG Agent grounds the answer in real docs, Next-Best-Action decides what to suggest, CRM/Follow-up Agent handles everything after the call, and the Guardrail Agent checks every output before a human ever sees it. Close on the routing line — this is what keeps cost sane: cheap model for classification, Claude for the suggestions that actually reach a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design decision, not a compliance slide: we built the approval gate and traceable RAG because a fintech company can't afford a hallucinated term reaching a customer. This is why the automation is safe to trust, not just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quickly here — name each piece, don't explain it. Fill in your actual vector DB and STT provider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real cost-per-decision number from pipeline logs before presenting — this is the slide judges will scrutinize most. Frame it in business terms: this replaces manual spot-check coaching and manual drop-off tracking, at a fraction of the cost of either.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realistic and short — these are the three things you'd actually build next, not a wishlist. This signals engineering maturity to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judges, restate the one-sentence pitch if time allows, and open the floor for questions. Fill in team name, contact, and repo link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194560"/>
            <a:ext cx="6035040" cy="6035040"/>
          </a:xfrm>
          <a:prstGeom prst="ellipse">
            <a:avLst/>
          </a:prstGeom>
          <a:solidFill>
            <a:srgbClr val="0C1D38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241280" y="4480560"/>
            <a:ext cx="3291840" cy="3291840"/>
          </a:xfrm>
          <a:prstGeom prst="ellipse">
            <a:avLst/>
          </a:prstGeom>
          <a:solidFill>
            <a:srgbClr val="137E79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CO-PILOT FOR INSIDE SALES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SahAI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call, the right words. Every drop-off, a follow-up.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the customer without a human's okay.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2926080" cy="0"/>
          </a:xfrm>
          <a:prstGeom prst="line">
            <a:avLst/>
          </a:prstGeom>
          <a:noFill/>
          <a:ln w="12700">
            <a:solidFill>
              <a:srgbClr val="2C426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9377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 2026</a:t>
            </a:r>
            <a:pPr indent="0" marL="0">
              <a:buNone/>
            </a:pPr>
            <a:r>
              <a:rPr lang="en-US" sz="13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Track: AI Voice Co-Pilot for Inside Sales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26694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Subhash · Nihanth · Aditya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492740" y="5783580"/>
            <a:ext cx="777240" cy="777240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p/>
        </p:txBody>
      </p:sp>
      <p:pic>
        <p:nvPicPr>
          <p:cNvPr id="11" name="Image 0" descr="icons/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7050" y="5977890"/>
            <a:ext cx="388620" cy="388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7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product. As many explanations as agents.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89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AE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37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CALLS IN, SAME PRODUCT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5440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pay-in-3 clearly in 40 seconds — zero cost, three fixed dates, no surprises.
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hesitates on the fee question, improvises, and the customer hangs up unsure.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2926080" cy="1783080"/>
          </a:xfrm>
          <a:prstGeom prst="roundRect">
            <a:avLst>
              <a:gd name="adj" fmla="val 4103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96112" y="4434840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p/>
        </p:txBody>
      </p:sp>
      <p:pic>
        <p:nvPicPr>
          <p:cNvPr id="9" name="Image 0" descr="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6" y="456651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0109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6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914400" y="5532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on Pay-in-3 are ₹0 — the two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aren't are where trust is lost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794760" y="4251960"/>
            <a:ext cx="2926080" cy="1783080"/>
          </a:xfrm>
          <a:prstGeom prst="roundRect">
            <a:avLst>
              <a:gd name="adj" fmla="val 4103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050792" y="4434840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p/>
        </p:txBody>
      </p:sp>
      <p:pic>
        <p:nvPicPr>
          <p:cNvPr id="14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466" y="456651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69080" y="50109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4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4069080" y="5532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our benchmark calls end in a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drop-off, both at the KYC step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40080" y="61081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from the product's own fee schedule and the four benchmark call scenarios in the repo.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949440" y="1691640"/>
            <a:ext cx="4617720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AE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7223760" y="1920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37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BREAKS AT SCALE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223760" y="2450592"/>
            <a:ext cx="109728" cy="109728"/>
          </a:xfrm>
          <a:prstGeom prst="ellipse">
            <a:avLst/>
          </a:prstGeom>
          <a:solidFill>
            <a:srgbClr val="1FA6A0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479792" y="2304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offer, no muscle memory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7479792" y="259689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Pay-in-3 is new — agents haven't internalized it like legacy products.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223760" y="3410712"/>
            <a:ext cx="109728" cy="109728"/>
          </a:xfrm>
          <a:prstGeom prst="ellipse">
            <a:avLst/>
          </a:prstGeom>
          <a:solidFill>
            <a:srgbClr val="1FA6A0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7479792" y="3264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drop-off needs a human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7479792" y="355701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has to remember, log, and call back — for every stalled lead.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7223760" y="4370832"/>
            <a:ext cx="109728" cy="109728"/>
          </a:xfrm>
          <a:prstGeom prst="ellipse">
            <a:avLst/>
          </a:prstGeom>
          <a:solidFill>
            <a:srgbClr val="1FA6A0"/>
          </a:solidFill>
          <a:ln/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7479792" y="4224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can't keep up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7479792" y="451713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 spot-check a handful of calls, not review every one.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931920"/>
            <a:ext cx="5486400" cy="5486400"/>
          </a:xfrm>
          <a:prstGeom prst="ellipse">
            <a:avLst/>
          </a:prstGeom>
          <a:solidFill>
            <a:srgbClr val="0C1D3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SahAI listens on every sales call, </a:t>
            </a:r>
            <a:pPr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1FA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surfaces the right thing to say in real time</a:t>
            </a:r>
            <a:pPr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</a:t>
            </a:r>
            <a:pPr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1FA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makes sure no follow-up ever slips through</a:t>
            </a:r>
            <a:pPr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with a human approving everything before it reaches the customer.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5074920"/>
            <a:ext cx="2711196" cy="566928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 w="12700">
            <a:solidFill>
              <a:srgbClr val="2C42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5074920"/>
            <a:ext cx="2711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call assist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08476" y="5074920"/>
            <a:ext cx="3131820" cy="566928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 w="12700">
            <a:solidFill>
              <a:srgbClr val="2C426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808476" y="5074920"/>
            <a:ext cx="31318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CRM + follow-up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14616" y="5074920"/>
            <a:ext cx="2816352" cy="566928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 w="12700">
            <a:solidFill>
              <a:srgbClr val="2C42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214616" y="5074920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Human-approved, always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7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you're about to watch happen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3246120"/>
            <a:ext cx="10454335" cy="0"/>
          </a:xfrm>
          <a:prstGeom prst="line">
            <a:avLst/>
          </a:prstGeom>
          <a:noFill/>
          <a:ln w="25400">
            <a:solidFill>
              <a:srgbClr val="E2E4E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3246120"/>
            <a:ext cx="5227168" cy="0"/>
          </a:xfrm>
          <a:prstGeom prst="line">
            <a:avLst/>
          </a:prstGeom>
          <a:noFill/>
          <a:ln w="38100">
            <a:solidFill>
              <a:srgbClr val="1FA6A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88620" y="2766060"/>
            <a:ext cx="960120" cy="960120"/>
          </a:xfrm>
          <a:prstGeom prst="ellipse">
            <a:avLst/>
          </a:prstGeom>
          <a:solidFill>
            <a:srgbClr val="1FA6A0"/>
          </a:solidFill>
          <a:ln/>
        </p:spPr>
        <p:txBody>
          <a:bodyPr/>
          <a:p/>
        </p:txBody>
      </p:sp>
      <p:pic>
        <p:nvPicPr>
          <p:cNvPr id="7" name="Image 0" descr="icons/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852" y="3025292"/>
            <a:ext cx="441655" cy="4416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" y="39090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comes 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04088" y="24551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7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31009" y="2766060"/>
            <a:ext cx="960120" cy="960120"/>
          </a:xfrm>
          <a:prstGeom prst="ellipse">
            <a:avLst/>
          </a:prstGeom>
          <a:solidFill>
            <a:srgbClr val="1FA6A0"/>
          </a:solidFill>
          <a:ln/>
        </p:spPr>
        <p:txBody>
          <a:bodyPr/>
          <a:p/>
        </p:txBody>
      </p:sp>
      <p:pic>
        <p:nvPicPr>
          <p:cNvPr id="11" name="Image 1" descr="icons/transcri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242" y="3025292"/>
            <a:ext cx="441655" cy="4416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33829" y="39090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 +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446477" y="24551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7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873398" y="2766060"/>
            <a:ext cx="960120" cy="960120"/>
          </a:xfrm>
          <a:prstGeom prst="ellipse">
            <a:avLst/>
          </a:prstGeom>
          <a:solidFill>
            <a:srgbClr val="1FA6A0"/>
          </a:solidFill>
          <a:ln/>
        </p:spPr>
        <p:txBody>
          <a:bodyPr/>
          <a:p/>
        </p:txBody>
      </p:sp>
      <p:pic>
        <p:nvPicPr>
          <p:cNvPr id="15" name="Image 2" descr="icons/sugg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631" y="3025292"/>
            <a:ext cx="441655" cy="4416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76218" y="39090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surfaces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188866" y="24551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7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615788" y="2766060"/>
            <a:ext cx="960120" cy="960120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p/>
        </p:txBody>
      </p:sp>
      <p:pic>
        <p:nvPicPr>
          <p:cNvPr id="19" name="Image 3" descr="icons/call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020" y="3025292"/>
            <a:ext cx="441655" cy="44165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18608" y="39090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ends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931256" y="24551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358177" y="2766060"/>
            <a:ext cx="960120" cy="96012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pic>
        <p:nvPicPr>
          <p:cNvPr id="23" name="Image 4" descr="icons/cr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7409" y="3025292"/>
            <a:ext cx="441655" cy="44165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60997" y="39090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auto-updates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7673645" y="24551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9100566" y="2766060"/>
            <a:ext cx="960120" cy="96012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pic>
        <p:nvPicPr>
          <p:cNvPr id="27" name="Image 5" descr="icons/followu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9798" y="3025292"/>
            <a:ext cx="441655" cy="44165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803386" y="39090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drafted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9416034" y="24551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10842955" y="2766060"/>
            <a:ext cx="960120" cy="96012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pic>
        <p:nvPicPr>
          <p:cNvPr id="31" name="Image 6" descr="icons/approv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2188" y="3025292"/>
            <a:ext cx="441655" cy="44165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545775" y="39090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sent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11158423" y="24551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685800" y="1737360"/>
            <a:ext cx="5592928" cy="384048"/>
          </a:xfrm>
          <a:prstGeom prst="roundRect">
            <a:avLst>
              <a:gd name="adj" fmla="val 19048"/>
            </a:avLst>
          </a:prstGeom>
          <a:solidFill>
            <a:srgbClr val="E4F3F2"/>
          </a:solidFill>
          <a:ln/>
        </p:spPr>
        <p:txBody>
          <a:bodyPr/>
          <a:p/>
        </p:txBody>
      </p:sp>
      <p:sp>
        <p:nvSpPr>
          <p:cNvPr id="35" name="Text 26"/>
          <p:cNvSpPr/>
          <p:nvPr/>
        </p:nvSpPr>
        <p:spPr>
          <a:xfrm>
            <a:off x="685800" y="1737360"/>
            <a:ext cx="559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37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CALL — LIVE ASSIST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6278728" y="1737360"/>
            <a:ext cx="5044288" cy="384048"/>
          </a:xfrm>
          <a:prstGeom prst="roundRect">
            <a:avLst>
              <a:gd name="adj" fmla="val 19048"/>
            </a:avLst>
          </a:prstGeom>
          <a:solidFill>
            <a:srgbClr val="E7EAF0"/>
          </a:solidFill>
          <a:ln/>
        </p:spPr>
        <p:txBody>
          <a:bodyPr/>
          <a:p/>
        </p:txBody>
      </p:sp>
      <p:sp>
        <p:nvSpPr>
          <p:cNvPr id="37" name="Text 28"/>
          <p:cNvSpPr/>
          <p:nvPr/>
        </p:nvSpPr>
        <p:spPr>
          <a:xfrm>
            <a:off x="6278728" y="1737360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CALL — AUTOMATION + HUMAN APPROVAL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640080" y="539496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AE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9" name="Shape 30"/>
          <p:cNvSpPr/>
          <p:nvPr/>
        </p:nvSpPr>
        <p:spPr>
          <a:xfrm>
            <a:off x="941832" y="5605272"/>
            <a:ext cx="530352" cy="530352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pic>
        <p:nvPicPr>
          <p:cNvPr id="40" name="Image 7" descr="icons/ga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" y="5737860"/>
            <a:ext cx="265176" cy="26517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691640" y="555955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customer-facing goes out on autopilot.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suggestion during the call and every follow-up after it passes through a human before it reaches the customer.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agents, one orchestrator, cost-aware routing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41368" y="1947672"/>
            <a:ext cx="3108960" cy="768096"/>
          </a:xfrm>
          <a:prstGeom prst="roundRect">
            <a:avLst>
              <a:gd name="adj" fmla="val 50000"/>
            </a:avLst>
          </a:prstGeom>
          <a:solidFill>
            <a:srgbClr val="137E79"/>
          </a:solidFill>
          <a:ln/>
        </p:spPr>
        <p:txBody>
          <a:bodyPr/>
          <a:p/>
        </p:txBody>
      </p:sp>
      <p:pic>
        <p:nvPicPr>
          <p:cNvPr id="5" name="Image 0" descr="icons/orchest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8528" y="21122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27168" y="1947672"/>
            <a:ext cx="1463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670152" y="2715768"/>
            <a:ext cx="4425696" cy="530352"/>
          </a:xfrm>
          <a:prstGeom prst="line">
            <a:avLst/>
          </a:prstGeom>
          <a:noFill/>
          <a:ln w="15875">
            <a:solidFill>
              <a:srgbClr val="2C4A78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3883000" y="2715768"/>
            <a:ext cx="2212848" cy="530352"/>
          </a:xfrm>
          <a:prstGeom prst="line">
            <a:avLst/>
          </a:prstGeom>
          <a:noFill/>
          <a:ln w="15875">
            <a:solidFill>
              <a:srgbClr val="2C4A78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095848" y="2715768"/>
            <a:ext cx="9144" cy="530352"/>
          </a:xfrm>
          <a:prstGeom prst="line">
            <a:avLst/>
          </a:prstGeom>
          <a:noFill/>
          <a:ln w="15875">
            <a:solidFill>
              <a:srgbClr val="2C4A7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095848" y="2715768"/>
            <a:ext cx="2212848" cy="530352"/>
          </a:xfrm>
          <a:prstGeom prst="line">
            <a:avLst/>
          </a:prstGeom>
          <a:noFill/>
          <a:ln w="15875">
            <a:solidFill>
              <a:srgbClr val="2C4A78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095848" y="2715768"/>
            <a:ext cx="4425696" cy="530352"/>
          </a:xfrm>
          <a:prstGeom prst="line">
            <a:avLst/>
          </a:prstGeom>
          <a:noFill/>
          <a:ln w="15875">
            <a:solidFill>
              <a:srgbClr val="2C4A78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46024" y="3246120"/>
            <a:ext cx="2048256" cy="2606040"/>
          </a:xfrm>
          <a:prstGeom prst="roundRect">
            <a:avLst>
              <a:gd name="adj" fmla="val 3571"/>
            </a:avLst>
          </a:prstGeom>
          <a:solidFill>
            <a:srgbClr val="1B3A63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340968" y="3419856"/>
            <a:ext cx="658368" cy="658368"/>
          </a:xfrm>
          <a:prstGeom prst="ellipse">
            <a:avLst/>
          </a:prstGeom>
          <a:solidFill>
            <a:srgbClr val="137E79"/>
          </a:solidFill>
          <a:ln/>
        </p:spPr>
        <p:txBody>
          <a:bodyPr/>
          <a:p/>
        </p:txBody>
      </p:sp>
      <p:pic>
        <p:nvPicPr>
          <p:cNvPr id="14" name="Image 1" descr="icons/int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143" y="3591032"/>
            <a:ext cx="316017" cy="31601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5752" y="4206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Agent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55752" y="4800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what the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needs, live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858872" y="3246120"/>
            <a:ext cx="2048256" cy="2606040"/>
          </a:xfrm>
          <a:prstGeom prst="roundRect">
            <a:avLst>
              <a:gd name="adj" fmla="val 3571"/>
            </a:avLst>
          </a:prstGeom>
          <a:solidFill>
            <a:srgbClr val="1B3A63"/>
          </a:solidFill>
          <a:ln/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553816" y="3419856"/>
            <a:ext cx="658368" cy="658368"/>
          </a:xfrm>
          <a:prstGeom prst="ellipse">
            <a:avLst/>
          </a:prstGeom>
          <a:solidFill>
            <a:srgbClr val="137E79"/>
          </a:solidFill>
          <a:ln/>
        </p:spPr>
        <p:txBody>
          <a:bodyPr/>
          <a:p/>
        </p:txBody>
      </p:sp>
      <p:pic>
        <p:nvPicPr>
          <p:cNvPr id="19" name="Image 2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991" y="3591032"/>
            <a:ext cx="316017" cy="31601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968600" y="4206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/ RAG Agent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2968600" y="4800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answers in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product docs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71720" y="3246120"/>
            <a:ext cx="2048256" cy="2606040"/>
          </a:xfrm>
          <a:prstGeom prst="roundRect">
            <a:avLst>
              <a:gd name="adj" fmla="val 3571"/>
            </a:avLst>
          </a:prstGeom>
          <a:solidFill>
            <a:srgbClr val="1B3A63"/>
          </a:solidFill>
          <a:ln/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5766664" y="3419856"/>
            <a:ext cx="658368" cy="658368"/>
          </a:xfrm>
          <a:prstGeom prst="ellipse">
            <a:avLst/>
          </a:prstGeom>
          <a:solidFill>
            <a:srgbClr val="137E79"/>
          </a:solidFill>
          <a:ln/>
        </p:spPr>
        <p:txBody>
          <a:bodyPr/>
          <a:p/>
        </p:txBody>
      </p:sp>
      <p:pic>
        <p:nvPicPr>
          <p:cNvPr id="24" name="Image 3" descr="icons/nb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839" y="3591032"/>
            <a:ext cx="316017" cy="31601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81448" y="4206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Next-Best-Action Agent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181448" y="4800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what the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should say or do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284568" y="3246120"/>
            <a:ext cx="2048256" cy="2606040"/>
          </a:xfrm>
          <a:prstGeom prst="roundRect">
            <a:avLst>
              <a:gd name="adj" fmla="val 3571"/>
            </a:avLst>
          </a:prstGeom>
          <a:solidFill>
            <a:srgbClr val="1B3A63"/>
          </a:solidFill>
          <a:ln/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7979512" y="3419856"/>
            <a:ext cx="658368" cy="658368"/>
          </a:xfrm>
          <a:prstGeom prst="ellipse">
            <a:avLst/>
          </a:prstGeom>
          <a:solidFill>
            <a:srgbClr val="137E79"/>
          </a:solidFill>
          <a:ln/>
        </p:spPr>
        <p:txBody>
          <a:bodyPr/>
          <a:p/>
        </p:txBody>
      </p:sp>
      <p:pic>
        <p:nvPicPr>
          <p:cNvPr id="29" name="Image 4" descr="icons/crmag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0687" y="3591032"/>
            <a:ext cx="316017" cy="31601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394296" y="4206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Follow-up Agent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7394296" y="4800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records,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follow-up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497416" y="3246120"/>
            <a:ext cx="2048256" cy="2606040"/>
          </a:xfrm>
          <a:prstGeom prst="roundRect">
            <a:avLst>
              <a:gd name="adj" fmla="val 3571"/>
            </a:avLst>
          </a:prstGeom>
          <a:solidFill>
            <a:srgbClr val="1B3A63"/>
          </a:solidFill>
          <a:ln/>
        </p:spPr>
        <p:txBody>
          <a:bodyPr/>
          <a:p/>
        </p:txBody>
      </p:sp>
      <p:sp>
        <p:nvSpPr>
          <p:cNvPr id="33" name="Shape 26"/>
          <p:cNvSpPr/>
          <p:nvPr/>
        </p:nvSpPr>
        <p:spPr>
          <a:xfrm>
            <a:off x="10192360" y="3419856"/>
            <a:ext cx="658368" cy="658368"/>
          </a:xfrm>
          <a:prstGeom prst="ellipse">
            <a:avLst/>
          </a:prstGeom>
          <a:solidFill>
            <a:srgbClr val="137E79"/>
          </a:solidFill>
          <a:ln/>
        </p:spPr>
        <p:txBody>
          <a:bodyPr/>
          <a:p/>
        </p:txBody>
      </p:sp>
      <p:pic>
        <p:nvPicPr>
          <p:cNvPr id="34" name="Image 5" descr="icons/guardrai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535" y="3591032"/>
            <a:ext cx="316017" cy="31601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607144" y="4206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/ Guardrail Agent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9607144" y="4800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every output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it's shown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40080" y="608076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1B3A63"/>
          </a:solidFill>
          <a:ln/>
        </p:spPr>
        <p:txBody>
          <a:bodyPr/>
          <a:p/>
        </p:txBody>
      </p:sp>
      <p:sp>
        <p:nvSpPr>
          <p:cNvPr id="38" name="Text 30"/>
          <p:cNvSpPr/>
          <p:nvPr/>
        </p:nvSpPr>
        <p:spPr>
          <a:xfrm>
            <a:off x="868680" y="608076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Cost-tiered model routing —  </a:t>
            </a:r>
            <a:pPr indent="0" marL="0"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sixth agent, an 86M injection screen, runs before the five above and halts an attack for about a millionth of a dollar. An 8B model then reads intent, a 20B model handles routine suggestions, and gpt-oss-120b is reserved for credit terms and objections — escalated by a named code rule, never by a prompt.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7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 TRUST THE 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are the product, not a footnote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AE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965960" y="2171700"/>
            <a:ext cx="868680" cy="86868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pic>
        <p:nvPicPr>
          <p:cNvPr id="6" name="Image 0" descr="icons/cons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0504" y="240624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2461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Consent, upfront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3794760"/>
            <a:ext cx="2935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opens with a consent step — the customer knows AI assistance is in the loop before anything else happens.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AE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715000" y="2171700"/>
            <a:ext cx="868680" cy="86868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pic>
        <p:nvPicPr>
          <p:cNvPr id="11" name="Image 1" descr="icons/g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544" y="2406244"/>
            <a:ext cx="399593" cy="3995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32461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Human-approval gate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81728" y="3794760"/>
            <a:ext cx="2935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follow-up and every customer-facing message passes through a human before it ever sends. The AI proposes; it never dispatches.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AE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9464040" y="2171700"/>
            <a:ext cx="868680" cy="86868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pic>
        <p:nvPicPr>
          <p:cNvPr id="16" name="Image 2" descr="icons/trace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8584" y="2406244"/>
            <a:ext cx="399593" cy="3995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32461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Source-traceable RAG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30768" y="3794760"/>
            <a:ext cx="2935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are grounded in approved product docs, not invented. If a term isn't in the source, it doesn't reach the agent.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6080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37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automated step is designed to earn trust before it earns speed.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7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production-credible, not a demo hack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6880" y="2194560"/>
            <a:ext cx="2066544" cy="301752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AE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81532" y="2583180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pic>
        <p:nvPicPr>
          <p:cNvPr id="6" name="Image 0" descr="icons/fast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1386" y="279303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8320" y="361188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4040" y="429768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orchestration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49728" y="2194560"/>
            <a:ext cx="2066544" cy="301752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AE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494380" y="2583180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pic>
        <p:nvPicPr>
          <p:cNvPr id="11" name="Image 1" descr="icons/re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234" y="279303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1168" y="361188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Tailwind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986888" y="429768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Agent-facing interface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62576" y="2194560"/>
            <a:ext cx="2066544" cy="301752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AE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707228" y="2583180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pic>
        <p:nvPicPr>
          <p:cNvPr id="16" name="Image 2" descr="icons/vector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082" y="279303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54016" y="361188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BM25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199736" y="429768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store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75424" y="2194560"/>
            <a:ext cx="2066544" cy="301752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AE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920076" y="2583180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pic>
        <p:nvPicPr>
          <p:cNvPr id="21" name="Image 3" descr="icons/st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930" y="2793035"/>
            <a:ext cx="357530" cy="3575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6864" y="361188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large-v3-turbo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12584" y="429768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transcription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488272" y="2194560"/>
            <a:ext cx="2066544" cy="301752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AE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10132924" y="2583180"/>
            <a:ext cx="777240" cy="777240"/>
          </a:xfrm>
          <a:prstGeom prst="ellipse">
            <a:avLst/>
          </a:prstGeom>
          <a:solidFill>
            <a:srgbClr val="137E79"/>
          </a:solidFill>
          <a:ln/>
        </p:spPr>
        <p:txBody>
          <a:bodyPr/>
          <a:p/>
        </p:txBody>
      </p:sp>
      <p:pic>
        <p:nvPicPr>
          <p:cNvPr id="26" name="Image 4" descr="icons/clau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2778" y="2793035"/>
            <a:ext cx="357530" cy="3575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79712" y="361188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gpt-oss-120b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625432" y="429768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reasoning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40080" y="56235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open-weights models on Groq · local ONNX embeddings, no torch · 187 tests, all offline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changes for the business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8028" y="196596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1B3A6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75208" y="2217420"/>
            <a:ext cx="777240" cy="777240"/>
          </a:xfrm>
          <a:prstGeom prst="ellipse">
            <a:avLst/>
          </a:prstGeom>
          <a:solidFill>
            <a:srgbClr val="137E79"/>
          </a:solidFill>
          <a:ln/>
        </p:spPr>
        <p:txBody>
          <a:bodyPr/>
          <a:p/>
        </p:txBody>
      </p:sp>
      <p:pic>
        <p:nvPicPr>
          <p:cNvPr id="6" name="Image 0" descr="icons/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518" y="24117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8068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$0.0037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98068" y="37033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assisted call (₹0.31),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from the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ledger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1348" y="196596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1B3A63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678528" y="2217420"/>
            <a:ext cx="777240" cy="777240"/>
          </a:xfrm>
          <a:prstGeom prst="ellipse">
            <a:avLst/>
          </a:prstGeom>
          <a:solidFill>
            <a:srgbClr val="137E79"/>
          </a:solidFill>
          <a:ln/>
        </p:spPr>
        <p:txBody>
          <a:bodyPr/>
          <a:p/>
        </p:txBody>
      </p:sp>
      <p:pic>
        <p:nvPicPr>
          <p:cNvPr id="11" name="Image 1" descr="icons/consisten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838" y="241173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1388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55×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4701388" y="37033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the same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through one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mega-prompt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4668" y="196596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1B3A63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81848" y="2217420"/>
            <a:ext cx="777240" cy="777240"/>
          </a:xfrm>
          <a:prstGeom prst="ellipse">
            <a:avLst/>
          </a:prstGeom>
          <a:solidFill>
            <a:srgbClr val="137E79"/>
          </a:solidFill>
          <a:ln/>
        </p:spPr>
        <p:txBody>
          <a:bodyPr/>
          <a:p/>
        </p:txBody>
      </p:sp>
      <p:pic>
        <p:nvPicPr>
          <p:cNvPr id="16" name="Image 2" descr="icons/tr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158" y="241173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4708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8404708" y="37033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pipeline stages cost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local retrieval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code guardrails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78028" y="4892040"/>
            <a:ext cx="10835640" cy="1325880"/>
          </a:xfrm>
          <a:prstGeom prst="roundRect">
            <a:avLst>
              <a:gd name="adj" fmla="val 5517"/>
            </a:avLst>
          </a:prstGeom>
          <a:solidFill>
            <a:srgbClr val="1B3A63"/>
          </a:solidFill>
          <a:ln/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952348" y="4892040"/>
            <a:ext cx="10287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replaces: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coaching that can only sample a few calls, and manual drop-off tracking that misses leads at scale. SahAI keeps every call consistent and every drop-off followed up — at the cost of a lightweight model call, not a headcount.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78028" y="635508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49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the usage field of real API responses, persisted per decision. Export /api/export/trace.csv and sum the usd column.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7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concrete next steps, not a wishlist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AE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31820" y="2125980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pic>
        <p:nvPicPr>
          <p:cNvPr id="7" name="Image 0" descr="icons/au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1675" y="233583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88036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non-numeric claims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96112" y="3456432"/>
            <a:ext cx="3008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verified against its cited source, but a sentence like "we never share your Aadhaar" contains no figures — only a model-judgement check sits under it. This is the largest open gap in the system.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19202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AE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645152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880860" y="2125980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pic>
        <p:nvPicPr>
          <p:cNvPr id="13" name="Image 1" descr="icons/integ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715" y="2335835"/>
            <a:ext cx="357530" cy="3575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288036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diarized audio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45152" y="3456432"/>
            <a:ext cx="3008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microphone path works today but attributes every utterance to the customer. Diarization would separate both speakers automatically, without a carrier integration.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9202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AE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8394192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0629900" y="2125980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pic>
        <p:nvPicPr>
          <p:cNvPr id="19" name="Image 2" descr="icons/cover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9755" y="2335835"/>
            <a:ext cx="357530" cy="3575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94192" y="288036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Hindi, Tamil, Telugu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394192" y="3456432"/>
            <a:ext cx="3008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is the biggest reach constraint in Indian inside sales. The retrieval layer and the guardrails are language-agnostic; the knowledge base and prompts are not — yet.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0C1D38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023360"/>
            <a:ext cx="4754880" cy="4754880"/>
          </a:xfrm>
          <a:prstGeom prst="ellipse">
            <a:avLst/>
          </a:prstGeom>
          <a:solidFill>
            <a:srgbClr val="137E79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286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SahAI — AI Voice Co-Pilot for Inside Sales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2743200" cy="0"/>
          </a:xfrm>
          <a:prstGeom prst="line">
            <a:avLst/>
          </a:prstGeom>
          <a:noFill/>
          <a:ln w="12700">
            <a:solidFill>
              <a:srgbClr val="2C42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Subhash · Nihanth · Aditya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github.com/KL2300030695/SahAI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989820" y="4960620"/>
            <a:ext cx="868680" cy="868680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p/>
        </p:txBody>
      </p:sp>
      <p:pic>
        <p:nvPicPr>
          <p:cNvPr id="10" name="Image 0" descr="icons/s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5677" y="5186477"/>
            <a:ext cx="416966" cy="4169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2026-08-08T05:06:34Z</dcterms:created>
  <dcterms:modified xsi:type="dcterms:W3CDTF">2026-08-08T05:06:34Z</dcterms:modified>
</cp:coreProperties>
</file>